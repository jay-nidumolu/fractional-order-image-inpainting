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7"/>
  </p:notesMasterIdLst>
  <p:sldIdLst>
    <p:sldId id="256" r:id="rId5"/>
    <p:sldId id="263" r:id="rId6"/>
    <p:sldId id="303" r:id="rId7"/>
    <p:sldId id="314" r:id="rId8"/>
    <p:sldId id="306" r:id="rId9"/>
    <p:sldId id="307" r:id="rId10"/>
    <p:sldId id="309" r:id="rId11"/>
    <p:sldId id="311" r:id="rId12"/>
    <p:sldId id="312" r:id="rId13"/>
    <p:sldId id="313" r:id="rId14"/>
    <p:sldId id="310" r:id="rId15"/>
    <p:sldId id="304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ED0"/>
    <a:srgbClr val="0098A5"/>
    <a:srgbClr val="005963"/>
    <a:srgbClr val="D93F00"/>
    <a:srgbClr val="FFFFFF"/>
    <a:srgbClr val="E4B429"/>
    <a:srgbClr val="FFD54F"/>
    <a:srgbClr val="FFEA3D"/>
    <a:srgbClr val="FFFFAA"/>
    <a:srgbClr val="E024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664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E68481-ABCB-394C-8DA2-97C968BAE7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4000"/>
            <a:ext cx="3784500" cy="104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9556" y="1028941"/>
            <a:ext cx="6519149" cy="1474115"/>
          </a:xfrm>
        </p:spPr>
        <p:txBody>
          <a:bodyPr lIns="0" anchor="b">
            <a:noAutofit/>
          </a:bodyPr>
          <a:lstStyle>
            <a:lvl1pPr algn="l">
              <a:defRPr sz="54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556" y="4266822"/>
            <a:ext cx="4114682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39555" y="2642329"/>
            <a:ext cx="887187" cy="377962"/>
          </a:xfrm>
          <a:prstGeom prst="rect">
            <a:avLst/>
          </a:prstGeom>
          <a:solidFill>
            <a:schemeClr val="accent1"/>
          </a:solidFill>
        </p:spPr>
        <p:txBody>
          <a:bodyPr anchor="ctr" anchorCtr="0"/>
          <a:lstStyle>
            <a:lvl1pPr algn="ctr">
              <a:defRPr sz="82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967756" y="6377232"/>
            <a:ext cx="3220281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61312" y="6377232"/>
            <a:ext cx="415425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23" name="Group 22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28" name="Rectangle 27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9" name="Rectangle 28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0" name="Rectangle 29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31" name="Rectangle 30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0593" y="397164"/>
            <a:ext cx="4573407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9556" y="690881"/>
            <a:ext cx="4114682" cy="1812176"/>
          </a:xfrm>
        </p:spPr>
        <p:txBody>
          <a:bodyPr lIns="0" anchor="b">
            <a:noAutofit/>
          </a:bodyPr>
          <a:lstStyle>
            <a:lvl1pPr algn="l">
              <a:defRPr sz="44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556" y="4266822"/>
            <a:ext cx="4114682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967756" y="6377232"/>
            <a:ext cx="3220281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361312" y="6377232"/>
            <a:ext cx="415425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Date Placeholder 6"/>
          <p:cNvSpPr>
            <a:spLocks noGrp="1"/>
          </p:cNvSpPr>
          <p:nvPr>
            <p:ph type="dt" sz="half" idx="10"/>
          </p:nvPr>
        </p:nvSpPr>
        <p:spPr>
          <a:xfrm>
            <a:off x="339555" y="2642329"/>
            <a:ext cx="887187" cy="377962"/>
          </a:xfrm>
          <a:prstGeom prst="rect">
            <a:avLst/>
          </a:prstGeom>
          <a:solidFill>
            <a:schemeClr val="accent1"/>
          </a:solidFill>
        </p:spPr>
        <p:txBody>
          <a:bodyPr anchor="ctr" anchorCtr="0"/>
          <a:lstStyle>
            <a:lvl1pPr algn="ctr">
              <a:defRPr sz="82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6/11/26</a:t>
            </a:fld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8" name="Rectangle 17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Rectangle 18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3CE53F63-B1B0-884B-BCBF-1D863DAC84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4000"/>
            <a:ext cx="3784500" cy="10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9556" y="1028941"/>
            <a:ext cx="6519149" cy="1474115"/>
          </a:xfrm>
        </p:spPr>
        <p:txBody>
          <a:bodyPr lIns="0" anchor="b">
            <a:noAutofit/>
          </a:bodyPr>
          <a:lstStyle>
            <a:lvl1pPr algn="l">
              <a:defRPr sz="54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556" y="4266822"/>
            <a:ext cx="4114682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3476" y="6182922"/>
            <a:ext cx="3220281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407032" y="6182922"/>
            <a:ext cx="415425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Date Placeholder 6"/>
          <p:cNvSpPr>
            <a:spLocks noGrp="1"/>
          </p:cNvSpPr>
          <p:nvPr>
            <p:ph type="dt" sz="half" idx="10"/>
          </p:nvPr>
        </p:nvSpPr>
        <p:spPr>
          <a:xfrm>
            <a:off x="339555" y="2642329"/>
            <a:ext cx="887187" cy="377962"/>
          </a:xfrm>
          <a:prstGeom prst="rect">
            <a:avLst/>
          </a:prstGeom>
          <a:solidFill>
            <a:schemeClr val="accent1"/>
          </a:solidFill>
        </p:spPr>
        <p:txBody>
          <a:bodyPr anchor="ctr" anchorCtr="0"/>
          <a:lstStyle>
            <a:lvl1pPr algn="ctr">
              <a:defRPr sz="82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6/11/26</a:t>
            </a:fld>
            <a:endParaRPr lang="en-US" dirty="0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6" name="Group 15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7" name="Rectangle 16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" name="Rectangle 17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6DE4100-AEF9-5D45-8284-3FAFAD8433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4000"/>
            <a:ext cx="3784497" cy="10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4570593" y="397164"/>
            <a:ext cx="4573407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9556" y="680721"/>
            <a:ext cx="4114682" cy="1822336"/>
          </a:xfrm>
        </p:spPr>
        <p:txBody>
          <a:bodyPr lIns="0" anchor="b">
            <a:noAutofit/>
          </a:bodyPr>
          <a:lstStyle>
            <a:lvl1pPr algn="l">
              <a:defRPr sz="44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556" y="4266822"/>
            <a:ext cx="4114682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Date Placeholder 6"/>
          <p:cNvSpPr>
            <a:spLocks noGrp="1"/>
          </p:cNvSpPr>
          <p:nvPr>
            <p:ph type="dt" sz="half" idx="10"/>
          </p:nvPr>
        </p:nvSpPr>
        <p:spPr>
          <a:xfrm>
            <a:off x="339555" y="2642329"/>
            <a:ext cx="887187" cy="377962"/>
          </a:xfrm>
          <a:prstGeom prst="rect">
            <a:avLst/>
          </a:prstGeom>
          <a:solidFill>
            <a:schemeClr val="accent1"/>
          </a:solidFill>
        </p:spPr>
        <p:txBody>
          <a:bodyPr anchor="ctr" anchorCtr="0"/>
          <a:lstStyle>
            <a:lvl1pPr algn="ctr">
              <a:defRPr sz="825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6/11/26</a:t>
            </a:fld>
            <a:endParaRPr lang="en-US" dirty="0"/>
          </a:p>
        </p:txBody>
      </p:sp>
      <p:sp>
        <p:nvSpPr>
          <p:cNvPr id="36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013476" y="6182922"/>
            <a:ext cx="3220281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407032" y="6182922"/>
            <a:ext cx="415425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7" name="Group 16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9" name="Rectangle 18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1A5D4D84-D9C7-1148-9C95-7A2667056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14000"/>
            <a:ext cx="3784497" cy="10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555773" y="685060"/>
            <a:ext cx="1065644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825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681169" y="685060"/>
            <a:ext cx="1065644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825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7806565" y="685060"/>
            <a:ext cx="1065644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825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94913" y="434109"/>
            <a:ext cx="5284561" cy="895927"/>
          </a:xfrm>
        </p:spPr>
        <p:txBody>
          <a:bodyPr>
            <a:normAutofit/>
          </a:bodyPr>
          <a:lstStyle>
            <a:lvl1pPr>
              <a:defRPr sz="3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4912" y="1709739"/>
            <a:ext cx="7049630" cy="2852737"/>
          </a:xfrm>
        </p:spPr>
        <p:txBody>
          <a:bodyPr anchor="b">
            <a:normAutofit/>
          </a:bodyPr>
          <a:lstStyle>
            <a:lvl1pPr algn="l">
              <a:defRPr sz="4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912" y="4589464"/>
            <a:ext cx="7049630" cy="15001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20391" y="3727927"/>
            <a:ext cx="6577965" cy="1212056"/>
          </a:xfrm>
        </p:spPr>
        <p:txBody>
          <a:bodyPr anchor="b">
            <a:noAutofit/>
          </a:bodyPr>
          <a:lstStyle>
            <a:lvl1pPr algn="l">
              <a:defRPr sz="4000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720391" y="4947814"/>
            <a:ext cx="6577965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5" name="Group 14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7" name="Rectangle 16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3" name="Rectangle 22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4" name="Rectangle 23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94913" y="434109"/>
            <a:ext cx="8677297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912" y="1413164"/>
            <a:ext cx="4190141" cy="4590472"/>
          </a:xfrm>
        </p:spPr>
        <p:txBody>
          <a:bodyPr/>
          <a:lstStyle>
            <a:lvl1pPr marL="216694" indent="-216694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1pPr>
            <a:lvl2pPr marL="5143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2pPr>
            <a:lvl3pPr marL="8572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3pPr>
            <a:lvl4pPr marL="12001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4pPr>
            <a:lvl5pPr marL="15430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8244" y="1413164"/>
            <a:ext cx="4243965" cy="4590472"/>
          </a:xfrm>
        </p:spPr>
        <p:txBody>
          <a:bodyPr/>
          <a:lstStyle>
            <a:lvl1pPr marL="216694" indent="-216694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1pPr>
            <a:lvl2pPr marL="5143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2pPr>
            <a:lvl3pPr marL="8572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3pPr>
            <a:lvl4pPr marL="12001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4pPr>
            <a:lvl5pPr marL="15430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911" y="1396192"/>
            <a:ext cx="4157035" cy="670270"/>
          </a:xfrm>
        </p:spPr>
        <p:txBody>
          <a:bodyPr anchor="b">
            <a:noAutofit/>
          </a:bodyPr>
          <a:lstStyle>
            <a:lvl1pPr marL="0" indent="0">
              <a:buNone/>
              <a:defRPr sz="2200" b="1" baseline="0"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911" y="2184401"/>
            <a:ext cx="4157035" cy="3846945"/>
          </a:xfrm>
        </p:spPr>
        <p:txBody>
          <a:bodyPr>
            <a:normAutofit/>
          </a:bodyPr>
          <a:lstStyle>
            <a:lvl1pPr marL="216694" indent="-216694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2000"/>
            </a:lvl1pPr>
            <a:lvl2pPr marL="5143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800"/>
            </a:lvl2pPr>
            <a:lvl3pPr marL="8572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600"/>
            </a:lvl3pPr>
            <a:lvl4pPr marL="12001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400"/>
            </a:lvl4pPr>
            <a:lvl5pPr marL="15430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77115" y="1396192"/>
            <a:ext cx="4195094" cy="670270"/>
          </a:xfrm>
        </p:spPr>
        <p:txBody>
          <a:bodyPr anchor="b">
            <a:normAutofit/>
          </a:bodyPr>
          <a:lstStyle>
            <a:lvl1pPr marL="0" indent="0">
              <a:buNone/>
              <a:defRPr sz="2200" b="1">
                <a:latin typeface="+mn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77115" y="2184401"/>
            <a:ext cx="4195094" cy="3846945"/>
          </a:xfrm>
        </p:spPr>
        <p:txBody>
          <a:bodyPr>
            <a:normAutofit/>
          </a:bodyPr>
          <a:lstStyle>
            <a:lvl1pPr marL="216694" indent="-216694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2000"/>
            </a:lvl1pPr>
            <a:lvl2pPr marL="5143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800"/>
            </a:lvl2pPr>
            <a:lvl3pPr marL="8572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600"/>
            </a:lvl3pPr>
            <a:lvl4pPr marL="12001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400"/>
            </a:lvl4pPr>
            <a:lvl5pPr marL="1543050" indent="-171450">
              <a:spcBef>
                <a:spcPts val="600"/>
              </a:spcBef>
              <a:spcAft>
                <a:spcPts val="6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94913" y="434109"/>
            <a:ext cx="8677297" cy="89592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23A3DC-CD7A-DF4E-ADC2-6DD38E830211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28CDB8-9CE7-F046-83B8-8D8CF610ADBF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E43FC5B-9F1D-8B41-8575-9895686DF83F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D3ED9D-9A52-4E4F-AF16-9850BFFC18B2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1245AEF-644B-6547-9795-5AB9B35C63D6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FF8F33E-C605-534B-8522-DEA987413EC7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1E3398A-3A84-2B47-A9D9-DAB937F64E8D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947554" y="1314515"/>
            <a:ext cx="3248891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191000" y="6335310"/>
            <a:ext cx="762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2947555" y="2321277"/>
            <a:ext cx="3248891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2947555" y="4745823"/>
            <a:ext cx="3248891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95300" y="2497200"/>
            <a:ext cx="81534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2947555" y="4861566"/>
            <a:ext cx="3248891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6A22EB-3104-FD41-9517-D016C121DB33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49C34B-7F5A-D24C-ADE9-2C4907FEF81F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F412D44-1EF4-4047-A67A-84B40CF72B46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A51A305-23CA-CE41-BD0F-FD3B3002BFFD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FD677F7-37FA-1148-8B3E-ED70B3EE9144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78E6DEA7-DC5D-444F-B0F3-3B08A7471115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B14D50C-18A0-EE48-98CD-074B04777265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4762714" y="714615"/>
            <a:ext cx="4080486" cy="553840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40772" y="1314515"/>
            <a:ext cx="3248891" cy="910202"/>
          </a:xfrm>
        </p:spPr>
        <p:txBody>
          <a:bodyPr anchor="b">
            <a:normAutofit/>
          </a:bodyPr>
          <a:lstStyle>
            <a:lvl1pPr algn="ctr">
              <a:defRPr sz="2800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94912" y="6335310"/>
            <a:ext cx="2915434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191000" y="6335310"/>
            <a:ext cx="762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08707" y="2485866"/>
            <a:ext cx="3713021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40772" y="4861566"/>
            <a:ext cx="3248891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40773" y="2321277"/>
            <a:ext cx="3248891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640773" y="4745823"/>
            <a:ext cx="3248891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44FE93-843B-ED4A-A08F-C3EBE889971B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DF37BF-2745-0245-B137-948088E6E4AB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54D43A1-F79D-C141-A514-38DD7D92D769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AC5DDAE-7CDF-0B46-941D-CB60F98A8176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AE6A2D03-EF63-194F-90BE-00EE56A3C98F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3B8E9A3-2B2F-3F40-B592-A8CCFB70853D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E4F86F4-352E-ED4B-BDC4-400E01915553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163242" y="3615239"/>
            <a:ext cx="6803231" cy="59848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694" y="2536662"/>
            <a:ext cx="8677297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11749B-4CBC-B94E-A5B1-5D96FA8D1632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DBBB29-DFDF-6744-911A-9BB86CDF5743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FF8483A-5D9A-1841-90FA-7C62F04F1CA1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90A75F-27CA-0C45-8C79-0B97BE004DD4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4011DCE-C496-6E4F-A9A0-7C0B46F50A4B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1EE0B14-2D5D-7E43-B134-F80C2ABA7F10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9C9AA98D-E121-FB4C-9A85-A3EC3FEC06BF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163242" y="3615239"/>
            <a:ext cx="6803231" cy="59848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694" y="2536662"/>
            <a:ext cx="8677297" cy="1046019"/>
          </a:xfrm>
        </p:spPr>
        <p:txBody>
          <a:bodyPr anchor="b">
            <a:normAutofit/>
          </a:bodyPr>
          <a:lstStyle>
            <a:lvl1pPr algn="ctr">
              <a:defRPr sz="6000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C8EA555-69E3-0C46-B65C-46BE17CDDCF3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24BFEF1-D3FE-7943-BBCA-0E59C33F2580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D0BCA46-5B53-A444-9CB5-14ED63F4182B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B3BD73F7-3380-B247-A0CE-F9350F2FDF40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41693FA-779E-1A4A-B3D9-18F4F8861C99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E2F41F2-CE32-CC4B-A073-FF642459042A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722E1FA0-4F50-D147-9022-6576B254454D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163242" y="3615239"/>
            <a:ext cx="6803231" cy="59848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694" y="2536662"/>
            <a:ext cx="8677297" cy="1046019"/>
          </a:xfrm>
        </p:spPr>
        <p:txBody>
          <a:bodyPr anchor="b">
            <a:normAutofit/>
          </a:bodyPr>
          <a:lstStyle>
            <a:lvl1pPr algn="ctr">
              <a:defRPr sz="60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B896231-580A-7047-A62A-AF7BDEADAB32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01D8A5-F6DA-A646-A6AD-4AE066D47CD5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CAA50B5-8900-0D42-A4D9-2816559A285E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B5C5A56-502E-5549-896A-F36A2C5813F2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5DF5DB0-E8BD-964D-8204-0E17F21A595C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29CCD08-4E9B-7E47-B31E-9507575B2D0A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D9189D0-535B-BE45-B4D2-28CE05B332D1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92919" y="4581237"/>
            <a:ext cx="8158163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35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9" name="Rectangle 18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D9F6357-B762-9C4C-AB78-DB5415CA5D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773" y="1211208"/>
            <a:ext cx="5926455" cy="3961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0069" y="4682836"/>
            <a:ext cx="8043863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350" b="0" i="0" cap="none" baseline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EAEA6-80CE-454E-BA27-AE3E4D7C65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773" y="1211207"/>
            <a:ext cx="5926455" cy="3961765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01C5000-9659-EE4F-9C40-55C3A6D97622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DB830E-5E3B-4A46-AEF7-3126C1B4177E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5EFD81-D47E-1C44-8ED7-8FC3E77A4199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85A5ECC-C61E-314E-B024-69FE02F9163A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43FEFB8-AF03-D545-B442-E6DF68C6304D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CFC6FFC-956A-864D-B3DD-9A20EFC05FE5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E418021F-8660-F249-A8BB-F6A00206DF6B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9" name="Rectangle 18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1" name="Rectangle 20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2" name="Rectangle 21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D9F6357-B762-9C4C-AB78-DB5415CA5D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773" y="830031"/>
            <a:ext cx="5926455" cy="396176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ED5D20-6E84-C64C-BB9A-927B095D73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9660" y="4797674"/>
            <a:ext cx="1884680" cy="533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E789CC-A775-0341-890F-528771B7E00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648" y="5482887"/>
            <a:ext cx="3854704" cy="25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495080"/>
      </p:ext>
    </p:extLst>
  </p:cSld>
  <p:clrMapOvr>
    <a:masterClrMapping/>
  </p:clrMapOvr>
  <p:transition spd="slow"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U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DEAEA6-80CE-454E-BA27-AE3E4D7C65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773" y="830031"/>
            <a:ext cx="5926455" cy="39617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27B3B9-AF43-5D4D-874C-D9ED1DDE65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9660" y="4797674"/>
            <a:ext cx="1884680" cy="533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A88051-9BF9-BB4D-B27F-1722AE7B0F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4648" y="5482887"/>
            <a:ext cx="3854704" cy="25247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9A6A4B4-2A06-F24B-AE14-44CA97B51BA8}"/>
              </a:ext>
            </a:extLst>
          </p:cNvPr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5116579-9F60-EE46-83C7-DD11671A5CD1}"/>
                </a:ext>
              </a:extLst>
            </p:cNvPr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4F83EE5-087E-994F-84F2-A0BC508D8212}"/>
                </a:ext>
              </a:extLst>
            </p:cNvPr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BBA09F1-BE30-6B4A-8B12-CFA5A3ACF2BB}"/>
                  </a:ext>
                </a:extLst>
              </p:cNvPr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86BD1AD-48C1-AD41-B1DE-5FCDE5C73796}"/>
                  </a:ext>
                </a:extLst>
              </p:cNvPr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AE8F741-4A24-B74B-8A50-35CA81FB2249}"/>
                  </a:ext>
                </a:extLst>
              </p:cNvPr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6B79F96-FEDD-BA45-86FE-A1360BF5B790}"/>
                  </a:ext>
                </a:extLst>
              </p:cNvPr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332886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5EE3996-486C-A44D-952A-8092F2025660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999" y="6028478"/>
            <a:ext cx="3132000" cy="864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913" y="434109"/>
            <a:ext cx="8677297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912" y="1413164"/>
            <a:ext cx="8677297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912" y="6335310"/>
            <a:ext cx="3919888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35310"/>
            <a:ext cx="762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0" y="0"/>
            <a:ext cx="9144000" cy="397164"/>
            <a:chOff x="0" y="0"/>
            <a:chExt cx="9144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6858704" y="198582"/>
              <a:ext cx="2285296" cy="198582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grpSp>
          <p:nvGrpSpPr>
            <p:cNvPr id="7" name="Group 6"/>
            <p:cNvGrpSpPr/>
            <p:nvPr userDrawn="1"/>
          </p:nvGrpSpPr>
          <p:grpSpPr>
            <a:xfrm>
              <a:off x="0" y="0"/>
              <a:ext cx="9143999" cy="397164"/>
              <a:chOff x="0" y="0"/>
              <a:chExt cx="9143999" cy="397164"/>
            </a:xfrm>
          </p:grpSpPr>
          <p:sp>
            <p:nvSpPr>
              <p:cNvPr id="16" name="Rectangle 15"/>
              <p:cNvSpPr/>
              <p:nvPr userDrawn="1"/>
            </p:nvSpPr>
            <p:spPr>
              <a:xfrm>
                <a:off x="1" y="198582"/>
                <a:ext cx="2311648" cy="19858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7" name="Rectangle 16"/>
              <p:cNvSpPr/>
              <p:nvPr userDrawn="1"/>
            </p:nvSpPr>
            <p:spPr>
              <a:xfrm>
                <a:off x="2288114" y="198582"/>
                <a:ext cx="2285296" cy="198582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18" name="Rectangle 17"/>
              <p:cNvSpPr/>
              <p:nvPr userDrawn="1"/>
            </p:nvSpPr>
            <p:spPr>
              <a:xfrm>
                <a:off x="4573409" y="198582"/>
                <a:ext cx="2285296" cy="198582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sp>
            <p:nvSpPr>
              <p:cNvPr id="20" name="Rectangle 19"/>
              <p:cNvSpPr/>
              <p:nvPr userDrawn="1"/>
            </p:nvSpPr>
            <p:spPr>
              <a:xfrm>
                <a:off x="0" y="0"/>
                <a:ext cx="9143999" cy="19858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2" r:id="rId21"/>
    <p:sldLayoutId id="2147483723" r:id="rId22"/>
  </p:sldLayoutIdLst>
  <p:transition spd="slow">
    <p:push dir="u"/>
  </p:transition>
  <p:hf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b="1" kern="1200" cap="none" spc="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694" indent="-216694" algn="l" defTabSz="6858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SzPct val="85000"/>
        <a:buFont typeface="Wingdings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/>
              <a:t>Reproduction of Image-Inpainting model based on fractional-order non-linear diffusion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9556" y="3944040"/>
            <a:ext cx="4331596" cy="98933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Praveen Raavi, 21007013</a:t>
            </a:r>
          </a:p>
          <a:p>
            <a:r>
              <a:rPr lang="en-US" dirty="0"/>
              <a:t>Jay </a:t>
            </a:r>
            <a:r>
              <a:rPr lang="en-US" dirty="0" err="1"/>
              <a:t>Nidumolu</a:t>
            </a:r>
            <a:r>
              <a:rPr lang="en-US" dirty="0"/>
              <a:t>, 21108165</a:t>
            </a:r>
          </a:p>
          <a:p>
            <a:br>
              <a:rPr lang="en-US" dirty="0"/>
            </a:br>
            <a:r>
              <a:rPr lang="en-US" dirty="0"/>
              <a:t>Department of Electrical and Computer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solidFill>
            <a:schemeClr val="accent4"/>
          </a:solidFill>
        </p:spPr>
        <p:txBody>
          <a:bodyPr/>
          <a:lstStyle/>
          <a:p>
            <a:r>
              <a:rPr lang="en-US" dirty="0"/>
              <a:t>Dec 2024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Importance</a:t>
            </a:r>
            <a:r>
              <a:rPr lang="en-US" dirty="0"/>
              <a:t>:</a:t>
            </a:r>
          </a:p>
          <a:p>
            <a:r>
              <a:rPr lang="en-US" b="0" i="1" u="none" strike="noStrike" dirty="0">
                <a:solidFill>
                  <a:srgbClr val="000000"/>
                </a:solidFill>
                <a:effectLst/>
              </a:rPr>
              <a:t>Image Inpainting Tasks: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Restores 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missing or corrupted image regions.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Applications: Photo restoration, object removal, and image compression.</a:t>
            </a:r>
          </a:p>
          <a:p>
            <a:r>
              <a:rPr lang="en-CA" b="0" i="1" u="none" strike="noStrike" dirty="0">
                <a:solidFill>
                  <a:srgbClr val="000000"/>
                </a:solidFill>
                <a:effectLst/>
              </a:rPr>
              <a:t>Traditional Techniques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:</a:t>
            </a:r>
            <a:endParaRPr lang="en-CA" dirty="0">
              <a:solidFill>
                <a:srgbClr val="000000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CA" i="0" u="sng" strike="noStrike" dirty="0">
                <a:solidFill>
                  <a:srgbClr val="000000"/>
                </a:solidFill>
                <a:effectLst/>
              </a:rPr>
              <a:t>Exemplar-based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: Synthesizes missing areas using similar patches.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b="0" i="0" u="sng" strike="noStrike" dirty="0">
                <a:solidFill>
                  <a:srgbClr val="000000"/>
                </a:solidFill>
                <a:effectLst/>
              </a:rPr>
              <a:t>Diffusion-based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: Propagates information along intensity gradients.</a:t>
            </a:r>
          </a:p>
          <a:p>
            <a:pPr marL="0" indent="0">
              <a:buNone/>
            </a:pPr>
            <a:r>
              <a:rPr lang="en-CA" b="1" dirty="0">
                <a:solidFill>
                  <a:srgbClr val="000000"/>
                </a:solidFill>
              </a:rPr>
              <a:t>Challenges</a:t>
            </a:r>
            <a:r>
              <a:rPr lang="en-CA" dirty="0">
                <a:solidFill>
                  <a:srgbClr val="000000"/>
                </a:solidFill>
              </a:rPr>
              <a:t>:</a:t>
            </a:r>
          </a:p>
          <a:p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Staircase effects in second-order diffusion.</a:t>
            </a:r>
          </a:p>
          <a:p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Loss of edge connectivity and blurring.</a:t>
            </a:r>
            <a:endParaRPr lang="en-CA" b="0" u="none" strike="noStrike" dirty="0">
              <a:solidFill>
                <a:srgbClr val="0000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20728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B061F-904A-16BE-67D9-5350049C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F400-6075-1091-C3A7-92B029693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CA" i="0" u="none" strike="noStrike" dirty="0">
                <a:solidFill>
                  <a:srgbClr val="000000"/>
                </a:solidFill>
                <a:effectLst/>
              </a:rPr>
              <a:t>Fractional-Order Nonlinear Diffusion?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E5E13-B99B-CA9A-2CFB-54CC565DD9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algn="l"/>
                <a:r>
                  <a:rPr lang="en-CA" b="1" i="0" u="none" strike="noStrike" dirty="0">
                    <a:solidFill>
                      <a:srgbClr val="000000"/>
                    </a:solidFill>
                    <a:effectLst/>
                  </a:rPr>
                  <a:t>Innovations:</a:t>
                </a:r>
                <a:endParaRPr lang="en-CA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Introduces </a:t>
                </a:r>
                <a:r>
                  <a:rPr lang="en-CA" b="1" i="0" u="none" strike="noStrike" dirty="0">
                    <a:solidFill>
                      <a:srgbClr val="000000"/>
                    </a:solidFill>
                    <a:effectLst/>
                  </a:rPr>
                  <a:t>fractional-order PDEs</a:t>
                </a: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 for better balance:</a:t>
                </a: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Retains edges while minimizing artifacts like staircase effects.</a:t>
                </a: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Reduces speckle noise effectively.</a:t>
                </a:r>
              </a:p>
              <a:p>
                <a:r>
                  <a:rPr lang="en-CA" b="1" i="0" u="none" strike="noStrike" dirty="0">
                    <a:solidFill>
                      <a:srgbClr val="000000"/>
                    </a:solidFill>
                    <a:effectLst/>
                  </a:rPr>
                  <a:t>Enhanced Features:</a:t>
                </a:r>
                <a:endParaRPr lang="en-CA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Incorporates </a:t>
                </a:r>
                <a:r>
                  <a:rPr lang="en-CA" b="1" i="0" u="none" strike="noStrike" dirty="0">
                    <a:solidFill>
                      <a:srgbClr val="000000"/>
                    </a:solidFill>
                    <a:effectLst/>
                  </a:rPr>
                  <a:t>Difference Curvature (DC):</a:t>
                </a:r>
                <a:endParaRPr lang="en-CA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Differentiates edges from smooth regions.</a:t>
                </a: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Guides accurate inpainting processes.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CA" b="0" i="0" u="none" strike="noStrike" dirty="0">
                    <a:solidFill>
                      <a:srgbClr val="000000"/>
                    </a:solidFill>
                    <a:effectLst/>
                  </a:rPr>
                  <a:t>Adaptive </a:t>
                </a:r>
                <a:r>
                  <a:rPr lang="en-CA" b="1" i="0" u="none" strike="noStrike" dirty="0">
                    <a:solidFill>
                      <a:srgbClr val="000000"/>
                    </a:solidFill>
                    <a:effectLst/>
                  </a:rPr>
                  <a:t>Conductance Coefficients(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𝝍</m:t>
                        </m:r>
                      </m:e>
                      <m:sub>
                        <m:r>
                          <a:rPr lang="en-CA" b="1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𝛀</m:t>
                        </m:r>
                      </m:sub>
                    </m:sSub>
                    <m:r>
                      <a:rPr lang="en-CA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b="1" i="0" u="none" strike="noStrike" dirty="0">
                    <a:solidFill>
                      <a:srgbClr val="000000"/>
                    </a:solidFill>
                    <a:effectLst/>
                  </a:rPr>
                  <a:t>):</a:t>
                </a: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i="0" u="none" strike="noStrike" dirty="0">
                    <a:solidFill>
                      <a:srgbClr val="000000"/>
                    </a:solidFill>
                    <a:effectLst/>
                  </a:rPr>
                  <a:t>Controls the strength of diffusion.</a:t>
                </a: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i="0" u="none" strike="noStrike" dirty="0">
                    <a:solidFill>
                      <a:srgbClr val="000000"/>
                    </a:solidFill>
                    <a:effectLst/>
                  </a:rPr>
                  <a:t>High in smooth regions to encourage diffusion.</a:t>
                </a:r>
              </a:p>
              <a:p>
                <a:pPr marL="1085850" lvl="2" indent="-285750">
                  <a:buFont typeface="Arial" panose="020B0604020202020204" pitchFamily="34" charset="0"/>
                  <a:buChar char="•"/>
                </a:pPr>
                <a:r>
                  <a:rPr lang="en-CA" i="0" u="none" strike="noStrike" dirty="0">
                    <a:solidFill>
                      <a:srgbClr val="000000"/>
                    </a:solidFill>
                    <a:effectLst/>
                  </a:rPr>
                  <a:t>Low near edges to prevent smoothing.</a:t>
                </a:r>
              </a:p>
              <a:p>
                <a:pPr marL="0" indent="0" algn="l">
                  <a:buNone/>
                </a:pPr>
                <a:endParaRPr lang="en-CA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E5E13-B99B-CA9A-2CFB-54CC565DD9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9" t="-1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142199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C3308-3274-2B07-6B21-9F50E741B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C55E-7810-5C76-F7E5-F667593B7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Paper: Proposed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F6FF20-45E5-44FD-7353-A7D29B75C6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Problem Statement:  </a:t>
                </a:r>
              </a:p>
              <a:p>
                <a:r>
                  <a:rPr lang="en-US" dirty="0"/>
                  <a:t>Given an image,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 which is the inpainting region has a small boundary of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Our problem is reconstruct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The degraded image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i="1" dirty="0" err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where,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sSup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dirty="0"/>
                  <a:t>is a bounded linear shift-invariant operator , and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gaussian noise of zero mean and finite variance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CA" i="1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F6FF20-45E5-44FD-7353-A7D29B75C6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7" t="-826" r="-1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129818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5B4C-50D2-5063-6605-F55D8AC21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A579-08D7-B889-237E-CABEE19D2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Paper: Proposed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2B0EF-C88A-076E-F6FB-36B7F9ED4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32500" lnSpcReduction="20000"/>
              </a:bodyPr>
              <a:lstStyle/>
              <a:p>
                <a:pPr marL="0" indent="0">
                  <a:buNone/>
                </a:pPr>
                <a:r>
                  <a:rPr lang="en-US" sz="3400" dirty="0"/>
                  <a:t>The inpainting process is guided by the following partial differential equation: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3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CA" sz="3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p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d>
                        <m:dPr>
                          <m:ctrlPr>
                            <a:rPr lang="en-CA" sz="3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sz="3400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3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CA" sz="3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sz="3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en-CA" sz="3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sup>
                          </m:sSup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sz="3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CA" sz="3400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</m:sSub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CA" sz="3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CA" sz="3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CA" sz="3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400" dirty="0"/>
              </a:p>
              <a:p>
                <a:pPr marL="0" indent="0">
                  <a:buNone/>
                </a:pPr>
                <a:r>
                  <a:rPr lang="en-US" sz="3400" dirty="0"/>
                  <a:t>Where:</a:t>
                </a:r>
              </a:p>
              <a:p>
                <a:r>
                  <a:rPr lang="en-US" sz="3400" dirty="0"/>
                  <a:t>The term </a:t>
                </a:r>
                <a14:m>
                  <m:oMath xmlns:m="http://schemas.openxmlformats.org/officeDocument/2006/math"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CA" sz="3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p>
                    </m:sSup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A" sz="3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𝝍</m:t>
                        </m:r>
                      </m:e>
                      <m:sub>
                        <m:r>
                          <a:rPr lang="en-CA" sz="34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sub>
                    </m:sSub>
                    <m:sSup>
                      <m:sSupPr>
                        <m:ctrlPr>
                          <a:rPr lang="en-CA" sz="3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𝜶</m:t>
                        </m:r>
                      </m:sup>
                    </m:sSup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400" dirty="0"/>
                  <a:t>:</a:t>
                </a:r>
              </a:p>
              <a:p>
                <a:pPr lvl="1"/>
                <a:r>
                  <a:rPr lang="en-US" sz="3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3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3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CA" sz="3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3400" dirty="0"/>
                  <a:t> is the Fractional-order derivative operator of the 2D-signal which uses DFT.</a:t>
                </a:r>
              </a:p>
              <a:p>
                <a:pPr lvl="1"/>
                <a:r>
                  <a:rPr lang="en-US" sz="3400" dirty="0"/>
                  <a:t>Applies fractional-order diffusion, driven by the conductance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3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</m:oMath>
                </a14:m>
                <a:r>
                  <a:rPr lang="en-US" sz="3400" dirty="0"/>
                  <a:t>, which depends on DC.</a:t>
                </a:r>
              </a:p>
              <a:p>
                <a:r>
                  <a:rPr lang="en-US" sz="3400" dirty="0"/>
                  <a:t>The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e>
                      <m:sub>
                        <m:r>
                          <a:rPr lang="en-CA" sz="3400" b="1" i="0" smtClean="0">
                            <a:latin typeface="Cambria Math" panose="02040503050406030204" pitchFamily="18" charset="0"/>
                          </a:rPr>
                          <m:t>𝛀</m:t>
                        </m:r>
                      </m:sub>
                    </m:sSub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𝒉</m:t>
                    </m:r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CA" sz="3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  <m:sub>
                        <m:r>
                          <a:rPr lang="en-CA" sz="3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CA" sz="3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400" dirty="0"/>
                  <a:t>:</a:t>
                </a:r>
              </a:p>
              <a:p>
                <a:pPr lvl="1"/>
                <a:r>
                  <a:rPr lang="en-US" sz="3400" dirty="0"/>
                  <a:t>Restores the non-degraded regions based on the degradation model </a:t>
                </a:r>
                <a14:m>
                  <m:oMath xmlns:m="http://schemas.openxmlformats.org/officeDocument/2006/math"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4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400" dirty="0"/>
              </a:p>
              <a:p>
                <a:r>
                  <a:rPr lang="en-US" sz="3400" dirty="0"/>
                  <a:t>The Conductance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sz="3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3400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sz="3400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3400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e>
                    </m:d>
                  </m:oMath>
                </a14:m>
                <a:r>
                  <a:rPr lang="en-US" sz="3400" dirty="0"/>
                  <a:t> is defined as:</a:t>
                </a:r>
                <a:endParaRPr lang="en-CA" sz="3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CA" sz="3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3400" dirty="0"/>
              </a:p>
              <a:p>
                <a:pPr marL="0" indent="0">
                  <a:buNone/>
                </a:pPr>
                <a:r>
                  <a:rPr lang="en-US" sz="3400" dirty="0"/>
                  <a:t>Where,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=1.4826 ∗</m:t>
                    </m:r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𝑀𝐴𝐷</m:t>
                    </m:r>
                    <m:d>
                      <m:dPr>
                        <m:ctrlPr>
                          <a:rPr lang="en-CA" sz="3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CA" sz="3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sz="3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sz="3400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en-CA" sz="3400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r>
                              <a:rPr lang="en-CA" sz="3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=1.4826 ∗</m:t>
                    </m:r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𝑚𝑒𝑑𝑖𝑎𝑛</m:t>
                    </m:r>
                    <m:r>
                      <a:rPr lang="en-CA" sz="3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CA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3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CA" sz="3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CA" sz="3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CA" sz="34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CA" sz="3400" b="0" i="0" smtClean="0">
                        <a:latin typeface="Cambria Math" panose="02040503050406030204" pitchFamily="18" charset="0"/>
                      </a:rPr>
                      <m:t>median</m:t>
                    </m:r>
                    <m:r>
                      <a:rPr lang="en-CA" sz="3400" b="0" i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CA" sz="3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CA" sz="3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sz="3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CA" sz="3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CA" sz="34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lang="en-US" sz="3400" dirty="0"/>
                  <a:t>))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32B0EF-C88A-076E-F6FB-36B7F9ED4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5795824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07324-1C5B-310D-9F6F-EF0F5FE3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7A19B-1532-38F7-2B6D-B85AC291C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</a:t>
            </a:r>
            <a:r>
              <a:rPr lang="en-US" dirty="0" err="1"/>
              <a:t>WorkFlow</a:t>
            </a:r>
            <a:r>
              <a:rPr lang="en-US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ACF3D1-B3DE-E11C-6276-320D97BEBE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Initialization: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CA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=0.01, 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=0, 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   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e>
                            <m:sSub>
                              <m:sSub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∉</m:t>
                            </m:r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</m:eqAr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 , 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𝐷𝐹𝑇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{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Iterations:</a:t>
                </a:r>
              </a:p>
              <a:p>
                <a:pPr lvl="1"/>
                <a:r>
                  <a:rPr lang="en-US" dirty="0"/>
                  <a:t>Use 2D DFT to compute Fractional order derivatives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along x, y directions</a:t>
                </a:r>
              </a:p>
              <a:p>
                <a:pPr lvl="1"/>
                <a:r>
                  <a:rPr lang="en-US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𝜂𝜂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 &amp; 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𝜉𝜉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 second-order derivatives in tangential and perpendicular directions. Calculate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𝐷𝐶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=||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𝜂𝜂</m:t>
                        </m:r>
                      </m:sub>
                    </m:sSub>
                    <m:r>
                      <a:rPr lang="en-CA" i="1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| − |</m:t>
                    </m:r>
                    <m:r>
                      <m:rPr>
                        <m:nor/>
                      </m:rPr>
                      <a:rPr lang="en-CA" dirty="0"/>
                      <m:t> </m:t>
                    </m:r>
                    <m:sSub>
                      <m:sSub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i="1">
                            <a:latin typeface="Cambria Math" panose="02040503050406030204" pitchFamily="18" charset="0"/>
                          </a:rPr>
                          <m:t>𝜉𝜉</m:t>
                        </m:r>
                      </m:sub>
                    </m:sSub>
                    <m:r>
                      <m:rPr>
                        <m:nor/>
                      </m:rPr>
                      <a:rPr lang="en-CA" b="0" i="0" smtClean="0">
                        <a:latin typeface="Cambria Math" panose="02040503050406030204" pitchFamily="18" charset="0"/>
                      </a:rPr>
                      <m:t>||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Adaptively 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𝐷𝐶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Evolve the image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 over iterations m using </a:t>
                </a:r>
              </a:p>
              <a:p>
                <a:pPr marL="342900" lvl="1" indent="0">
                  <a:buNone/>
                </a:pPr>
                <a:r>
                  <a:rPr lang="en-CA" b="0" dirty="0"/>
                  <a:t>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CA"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.(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</m:sSub>
                        <m:sSup>
                          <m:sSup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sup>
                        </m:s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3429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ACF3D1-B3DE-E11C-6276-320D97BEBE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39" t="-23416" r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317807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B3FB-CA61-5839-94E8-C25472546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5CA7-CC86-2511-4CEC-4F94AD11E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19" name="Content Placeholder 18" descr="A group of peppers in a pile&#10;&#10;Description automatically generated">
            <a:extLst>
              <a:ext uri="{FF2B5EF4-FFF2-40B4-BE49-F238E27FC236}">
                <a16:creationId xmlns:a16="http://schemas.microsoft.com/office/drawing/2014/main" id="{AB915667-1415-34AB-2F02-287886F581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85" y="1355356"/>
            <a:ext cx="1579447" cy="1579447"/>
          </a:xfrm>
        </p:spPr>
      </p:pic>
      <p:pic>
        <p:nvPicPr>
          <p:cNvPr id="21" name="Picture 20" descr="A close-up of a pepper&#10;&#10;Description automatically generated">
            <a:extLst>
              <a:ext uri="{FF2B5EF4-FFF2-40B4-BE49-F238E27FC236}">
                <a16:creationId xmlns:a16="http://schemas.microsoft.com/office/drawing/2014/main" id="{1D1716F8-E1E2-C302-9F77-CC97FAFE2A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701" y="1355356"/>
            <a:ext cx="1605834" cy="1579447"/>
          </a:xfrm>
          <a:prstGeom prst="rect">
            <a:avLst/>
          </a:prstGeom>
        </p:spPr>
      </p:pic>
      <p:pic>
        <p:nvPicPr>
          <p:cNvPr id="23" name="Picture 22" descr="A group of vegetables in a pile&#10;&#10;Description automatically generated">
            <a:extLst>
              <a:ext uri="{FF2B5EF4-FFF2-40B4-BE49-F238E27FC236}">
                <a16:creationId xmlns:a16="http://schemas.microsoft.com/office/drawing/2014/main" id="{42E05F69-4C5F-5B9D-63DA-184ADCAFE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180" y="1355356"/>
            <a:ext cx="1579447" cy="1579447"/>
          </a:xfrm>
          <a:prstGeom prst="rect">
            <a:avLst/>
          </a:prstGeom>
        </p:spPr>
      </p:pic>
      <p:pic>
        <p:nvPicPr>
          <p:cNvPr id="25" name="Picture 24" descr="A close up of vegetables&#10;&#10;Description automatically generated">
            <a:extLst>
              <a:ext uri="{FF2B5EF4-FFF2-40B4-BE49-F238E27FC236}">
                <a16:creationId xmlns:a16="http://schemas.microsoft.com/office/drawing/2014/main" id="{A7D3C9C6-D179-56EC-C442-24C1F9C4E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8464" y="1355356"/>
            <a:ext cx="1579447" cy="1579447"/>
          </a:xfrm>
          <a:prstGeom prst="rect">
            <a:avLst/>
          </a:prstGeom>
        </p:spPr>
      </p:pic>
      <p:pic>
        <p:nvPicPr>
          <p:cNvPr id="27" name="Picture 26" descr="A close-up of several peppers&#10;&#10;Description automatically generated">
            <a:extLst>
              <a:ext uri="{FF2B5EF4-FFF2-40B4-BE49-F238E27FC236}">
                <a16:creationId xmlns:a16="http://schemas.microsoft.com/office/drawing/2014/main" id="{6A139AEF-1030-699D-6EC7-DCD87BC1E3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386" y="1355356"/>
            <a:ext cx="1583227" cy="15832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1AFE8545-B75F-22ED-1CDC-86E6DF680CB1}"/>
              </a:ext>
            </a:extLst>
          </p:cNvPr>
          <p:cNvSpPr txBox="1"/>
          <p:nvPr/>
        </p:nvSpPr>
        <p:spPr>
          <a:xfrm>
            <a:off x="35168" y="3007515"/>
            <a:ext cx="9073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         Original Image          Degraded Image     Proposed Model Output         TV output                Bilateral Output</a:t>
            </a:r>
          </a:p>
        </p:txBody>
      </p:sp>
      <p:pic>
        <p:nvPicPr>
          <p:cNvPr id="30" name="Picture 29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D57317F8-8ADF-5834-2DE7-902904BB84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0927" y="3904743"/>
            <a:ext cx="4554944" cy="14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38978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111D1-84F1-F13F-BE7E-738BF869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196FB-0ACA-A7DE-5DD1-0F790191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4C998A-E664-D7BF-CBE2-6B42257AB9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3351" y="1216708"/>
                <a:ext cx="8677297" cy="4917298"/>
              </a:xfrm>
            </p:spPr>
            <p:txBody>
              <a:bodyPr>
                <a:normAutofit fontScale="25000" lnSpcReduction="20000"/>
              </a:bodyPr>
              <a:lstStyle/>
              <a:p>
                <a:pPr>
                  <a:lnSpc>
                    <a:spcPct val="70000"/>
                  </a:lnSpc>
                </a:pP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Mask Generation:</a:t>
                </a:r>
                <a:endParaRPr lang="en-CA" sz="6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Original paper lacked details on generating masks for degraded regions.</a:t>
                </a: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Solution: Implemented </a:t>
                </a: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edge-driven mask generation</a:t>
                </a: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:</a:t>
                </a:r>
              </a:p>
              <a:p>
                <a:pPr marL="1485900" lvl="2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Uses edge detection to identify prominent areas.</a:t>
                </a:r>
              </a:p>
              <a:p>
                <a:pPr marL="1485900" lvl="2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Applies selective occlusions to create masks.</a:t>
                </a: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Considered an </a:t>
                </a: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extension</a:t>
                </a: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 to the proposed work.</a:t>
                </a:r>
              </a:p>
              <a:p>
                <a:pPr>
                  <a:lnSpc>
                    <a:spcPct val="70000"/>
                  </a:lnSpc>
                </a:pP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Stopping Criterion:</a:t>
                </a:r>
                <a:endParaRPr lang="en-CA" sz="6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Original criterion based on PSNR lacked clarity for convergence.</a:t>
                </a: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Solution:</a:t>
                </a:r>
              </a:p>
              <a:p>
                <a:pPr marL="1485900" lvl="2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Refined criterion using </a:t>
                </a: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∆PSNR</a:t>
                </a: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:</a:t>
                </a:r>
              </a:p>
              <a:p>
                <a:pPr marL="1943100" lvl="3" indent="-571500">
                  <a:lnSpc>
                    <a:spcPct val="7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6400" b="0" i="0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Δ</m:t>
                    </m:r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𝑃𝑆𝑁𝑅</m:t>
                    </m:r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𝑃𝑆𝑁𝑅</m:t>
                    </m:r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)−</m:t>
                    </m:r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𝑃𝑆𝑁𝑅</m:t>
                    </m:r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CA" sz="6400" b="0" i="1" u="none" strike="noStrike" dirty="0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CA" sz="6400" b="0" i="1" u="none" strike="noStrike" dirty="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CA" sz="6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1943100" lvl="3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Threshold: 1×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sz="6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sz="6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sz="64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CA" sz="6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1485900" lvl="2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Introduced iteration counter for </a:t>
                </a: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stability</a:t>
                </a: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.</a:t>
                </a:r>
              </a:p>
              <a:p>
                <a:pPr>
                  <a:lnSpc>
                    <a:spcPct val="70000"/>
                  </a:lnSpc>
                </a:pPr>
                <a:r>
                  <a:rPr lang="en-CA" sz="6400" b="1" i="0" u="none" strike="noStrike" dirty="0">
                    <a:solidFill>
                      <a:srgbClr val="000000"/>
                    </a:solidFill>
                    <a:effectLst/>
                  </a:rPr>
                  <a:t>Kernel Size:</a:t>
                </a:r>
                <a:endParaRPr lang="en-CA" sz="6400" b="0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No kernel size specification in the original paper.</a:t>
                </a:r>
              </a:p>
              <a:p>
                <a:pPr marL="1028700" lvl="1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Solution:</a:t>
                </a:r>
              </a:p>
              <a:p>
                <a:pPr marL="1485900" lvl="2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Conducted experiments with various kernel sizes.</a:t>
                </a:r>
              </a:p>
              <a:p>
                <a:pPr marL="1485900" lvl="2" indent="-571500">
                  <a:lnSpc>
                    <a:spcPct val="70000"/>
                  </a:lnSpc>
                </a:pPr>
                <a:r>
                  <a:rPr lang="en-CA" sz="6400" b="0" i="0" u="none" strike="noStrike" dirty="0">
                    <a:solidFill>
                      <a:srgbClr val="000000"/>
                    </a:solidFill>
                    <a:effectLst/>
                  </a:rPr>
                  <a:t>Optimized for computational efficiency and result quality.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4C998A-E664-D7BF-CBE2-6B42257AB9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3351" y="1216708"/>
                <a:ext cx="8677297" cy="4917298"/>
              </a:xfrm>
              <a:blipFill>
                <a:blip r:embed="rId2"/>
                <a:stretch>
                  <a:fillRect l="-146" t="-2584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65642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3330C-4BF5-5F46-CCC2-DD240E181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F7766-56C6-77BB-118F-70FCFD21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E7DBF-4690-ADA0-5E93-00027FB50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912" y="1413165"/>
            <a:ext cx="8677297" cy="3389948"/>
          </a:xfrm>
        </p:spPr>
        <p:txBody>
          <a:bodyPr>
            <a:normAutofit fontScale="77500" lnSpcReduction="20000"/>
          </a:bodyPr>
          <a:lstStyle/>
          <a:p>
            <a:r>
              <a:rPr lang="en-US" sz="2300" b="1" dirty="0"/>
              <a:t>Handling RGB Images:</a:t>
            </a:r>
          </a:p>
          <a:p>
            <a:pPr lvl="1"/>
            <a:r>
              <a:rPr lang="en-US" sz="2100" b="1" dirty="0"/>
              <a:t>Channel Separation Approach :</a:t>
            </a:r>
          </a:p>
          <a:p>
            <a:pPr lvl="2"/>
            <a:r>
              <a:rPr lang="en-US" sz="1400" b="1" dirty="0"/>
              <a:t>Method</a:t>
            </a:r>
            <a:r>
              <a:rPr lang="en-US" sz="1400" dirty="0"/>
              <a:t>:</a:t>
            </a:r>
          </a:p>
          <a:p>
            <a:pPr lvl="3"/>
            <a:r>
              <a:rPr lang="en-US" sz="1400" dirty="0"/>
              <a:t>Split RGB images into individual grayscale channels (Red, Green, Blue).</a:t>
            </a:r>
          </a:p>
          <a:p>
            <a:pPr lvl="3"/>
            <a:r>
              <a:rPr lang="en-US" sz="1400" dirty="0"/>
              <a:t>Apply the inpainting algorithm independently to each channel, then recombine them.</a:t>
            </a:r>
          </a:p>
          <a:p>
            <a:pPr lvl="2"/>
            <a:r>
              <a:rPr lang="en-US" sz="1400" b="1" dirty="0"/>
              <a:t>Advantages</a:t>
            </a:r>
            <a:r>
              <a:rPr lang="en-US" sz="1400" dirty="0"/>
              <a:t>:</a:t>
            </a:r>
          </a:p>
          <a:p>
            <a:pPr lvl="3"/>
            <a:r>
              <a:rPr lang="en-US" sz="1400" dirty="0"/>
              <a:t>Simple to implement, leveraging the original 2D inpainting method.</a:t>
            </a:r>
          </a:p>
          <a:p>
            <a:pPr lvl="3"/>
            <a:r>
              <a:rPr lang="en-US" sz="1400" dirty="0"/>
              <a:t>Computational complexity remains similar to the original model.</a:t>
            </a:r>
          </a:p>
          <a:p>
            <a:pPr lvl="2"/>
            <a:r>
              <a:rPr lang="en-US" sz="1400" b="1" dirty="0"/>
              <a:t>Disadvantages</a:t>
            </a:r>
            <a:r>
              <a:rPr lang="en-US" sz="1400" dirty="0"/>
              <a:t>:</a:t>
            </a:r>
          </a:p>
          <a:p>
            <a:pPr lvl="3"/>
            <a:r>
              <a:rPr lang="en-US" sz="1400" dirty="0"/>
              <a:t>Potential color artifacts due to inconsistencies between channels.</a:t>
            </a:r>
          </a:p>
          <a:p>
            <a:pPr lvl="3"/>
            <a:r>
              <a:rPr lang="en-US" sz="1400" dirty="0"/>
              <a:t>Does not fully exploit the interdependencies of RGB channels.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group of peppers with different colors&#10;&#10;Description automatically generated">
            <a:extLst>
              <a:ext uri="{FF2B5EF4-FFF2-40B4-BE49-F238E27FC236}">
                <a16:creationId xmlns:a16="http://schemas.microsoft.com/office/drawing/2014/main" id="{FAE74DAF-9BDC-9B40-7A13-2AE09900D7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9" t="38094" r="9875" b="41495"/>
          <a:stretch/>
        </p:blipFill>
        <p:spPr>
          <a:xfrm>
            <a:off x="1175657" y="4786670"/>
            <a:ext cx="6320413" cy="109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01449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FB93A-4BDC-0C4A-E6F7-35893E4D5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47CD-F9A8-FFAD-BF1B-DF42A1A54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13" y="434109"/>
            <a:ext cx="8677297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Extension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52CA-9F11-D0A5-DE77-C6F8321734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912" y="1330036"/>
            <a:ext cx="8496912" cy="2520997"/>
          </a:xfrm>
        </p:spPr>
        <p:txBody>
          <a:bodyPr>
            <a:normAutofit lnSpcReduction="10000"/>
          </a:bodyPr>
          <a:lstStyle/>
          <a:p>
            <a:pPr>
              <a:lnSpc>
                <a:spcPct val="60000"/>
              </a:lnSpc>
            </a:pPr>
            <a:r>
              <a:rPr lang="en-US" sz="1400" b="1" dirty="0"/>
              <a:t>Handling RGB Images:</a:t>
            </a:r>
          </a:p>
          <a:p>
            <a:pPr lvl="1">
              <a:lnSpc>
                <a:spcPct val="60000"/>
              </a:lnSpc>
            </a:pPr>
            <a:r>
              <a:rPr lang="en-US" sz="1400" b="1" dirty="0"/>
              <a:t>Direct 3D Approach:</a:t>
            </a:r>
          </a:p>
          <a:p>
            <a:pPr lvl="2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b="1" dirty="0"/>
              <a:t>Method</a:t>
            </a:r>
            <a:r>
              <a:rPr lang="en-CA" sz="1100" dirty="0"/>
              <a:t>: </a:t>
            </a:r>
          </a:p>
          <a:p>
            <a:pPr marL="1428750" lvl="3" indent="-285750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dirty="0"/>
              <a:t>Treat the RGB image as a 3D signal by adding a third dimension for color channels.</a:t>
            </a:r>
          </a:p>
          <a:p>
            <a:pPr marL="1428750" lvl="3" indent="-285750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dirty="0"/>
              <a:t>Modify conductance functions and equations to account for interactions between channels.</a:t>
            </a:r>
          </a:p>
          <a:p>
            <a:pPr lvl="2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b="1" dirty="0"/>
              <a:t>Advantages</a:t>
            </a:r>
            <a:r>
              <a:rPr lang="en-CA" sz="1100" dirty="0"/>
              <a:t>: </a:t>
            </a:r>
          </a:p>
          <a:p>
            <a:pPr marL="1428750" lvl="3" indent="-285750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dirty="0"/>
              <a:t>Maintains color coherence and structural integrity across RGB channels.</a:t>
            </a:r>
          </a:p>
          <a:p>
            <a:pPr marL="1428750" lvl="3" indent="-285750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dirty="0"/>
              <a:t>Better visual quality, especially for complex color details.</a:t>
            </a:r>
          </a:p>
          <a:p>
            <a:pPr lvl="2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b="1" dirty="0"/>
              <a:t>Disadvantages</a:t>
            </a:r>
            <a:r>
              <a:rPr lang="en-CA" sz="1100" dirty="0"/>
              <a:t>: </a:t>
            </a:r>
          </a:p>
          <a:p>
            <a:pPr marL="1428750" lvl="3" indent="-285750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dirty="0"/>
              <a:t>Higher computational complexity.</a:t>
            </a:r>
          </a:p>
          <a:p>
            <a:pPr marL="1428750" lvl="3" indent="-285750">
              <a:lnSpc>
                <a:spcPct val="50000"/>
              </a:lnSpc>
              <a:buFont typeface="Arial" panose="020B0604020202020204" pitchFamily="34" charset="0"/>
              <a:buChar char="•"/>
            </a:pPr>
            <a:r>
              <a:rPr lang="en-CA" sz="1100" dirty="0"/>
              <a:t>Requires significant modifications to the original algorithm.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/>
          </a:p>
        </p:txBody>
      </p:sp>
      <p:pic>
        <p:nvPicPr>
          <p:cNvPr id="18" name="Picture 17" descr="A close-up of a pile of peppers&#10;&#10;Description automatically generated">
            <a:extLst>
              <a:ext uri="{FF2B5EF4-FFF2-40B4-BE49-F238E27FC236}">
                <a16:creationId xmlns:a16="http://schemas.microsoft.com/office/drawing/2014/main" id="{378ECB26-963F-AD4A-15C2-1F45F8394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568" y="3934160"/>
            <a:ext cx="1625600" cy="1625600"/>
          </a:xfrm>
          <a:prstGeom prst="rect">
            <a:avLst/>
          </a:prstGeom>
        </p:spPr>
      </p:pic>
      <p:pic>
        <p:nvPicPr>
          <p:cNvPr id="20" name="Picture 19" descr="A close-up of several peppers&#10;&#10;Description automatically generated">
            <a:extLst>
              <a:ext uri="{FF2B5EF4-FFF2-40B4-BE49-F238E27FC236}">
                <a16:creationId xmlns:a16="http://schemas.microsoft.com/office/drawing/2014/main" id="{087FA2FC-6514-1721-39EE-520DE88C3F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980" y="3934160"/>
            <a:ext cx="1625600" cy="1625600"/>
          </a:xfrm>
          <a:prstGeom prst="rect">
            <a:avLst/>
          </a:prstGeom>
        </p:spPr>
      </p:pic>
      <p:pic>
        <p:nvPicPr>
          <p:cNvPr id="22" name="Picture 21" descr="A close-up of several peppers&#10;&#10;Description automatically generated">
            <a:extLst>
              <a:ext uri="{FF2B5EF4-FFF2-40B4-BE49-F238E27FC236}">
                <a16:creationId xmlns:a16="http://schemas.microsoft.com/office/drawing/2014/main" id="{894DF326-FCF3-0F04-5E29-FC4B709CB6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463" y="3937467"/>
            <a:ext cx="1622293" cy="16222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B359839-1C5A-58E0-733D-1B78F7E00C90}"/>
              </a:ext>
            </a:extLst>
          </p:cNvPr>
          <p:cNvSpPr txBox="1"/>
          <p:nvPr/>
        </p:nvSpPr>
        <p:spPr>
          <a:xfrm>
            <a:off x="1236463" y="5695276"/>
            <a:ext cx="6430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Original Image                                       Degraded Image.                                      Restored Image</a:t>
            </a:r>
          </a:p>
        </p:txBody>
      </p:sp>
    </p:spTree>
    <p:extLst>
      <p:ext uri="{BB962C8B-B14F-4D97-AF65-F5344CB8AC3E}">
        <p14:creationId xmlns:p14="http://schemas.microsoft.com/office/powerpoint/2010/main" val="94151581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F60E-577A-8C5E-6A69-976704A7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61539-948C-9907-D47D-331ED6A9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9C03E-A762-CDE9-4D95-786F2382C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912" y="1413164"/>
            <a:ext cx="8677297" cy="2716709"/>
          </a:xfrm>
        </p:spPr>
        <p:txBody>
          <a:bodyPr>
            <a:normAutofit fontScale="55000" lnSpcReduction="20000"/>
          </a:bodyPr>
          <a:lstStyle/>
          <a:p>
            <a:pPr rtl="0"/>
            <a:r>
              <a:rPr lang="en-CA" b="1" dirty="0"/>
              <a:t>Edge Driven Mask Generation:</a:t>
            </a:r>
          </a:p>
          <a:p>
            <a:pPr lvl="1">
              <a:lnSpc>
                <a:spcPct val="70000"/>
              </a:lnSpc>
            </a:pPr>
            <a:r>
              <a:rPr lang="en-CA" b="1" dirty="0"/>
              <a:t>Motivation</a:t>
            </a:r>
          </a:p>
          <a:p>
            <a:pPr lvl="2">
              <a:lnSpc>
                <a:spcPct val="70000"/>
              </a:lnSpc>
            </a:pPr>
            <a:r>
              <a:rPr lang="en-CA" b="1" dirty="0"/>
              <a:t>Challenge</a:t>
            </a:r>
            <a:r>
              <a:rPr lang="en-CA" dirty="0"/>
              <a:t>: Masks are often unavailable in real-world scenarios.</a:t>
            </a:r>
          </a:p>
          <a:p>
            <a:pPr lvl="2">
              <a:lnSpc>
                <a:spcPct val="70000"/>
              </a:lnSpc>
            </a:pPr>
            <a:r>
              <a:rPr lang="en-CA" b="1" dirty="0"/>
              <a:t>Solution</a:t>
            </a:r>
            <a:r>
              <a:rPr lang="en-CA" dirty="0"/>
              <a:t>: Developed an automatic mask generation approach based on edge detection to identify inpainting regions.</a:t>
            </a:r>
          </a:p>
          <a:p>
            <a:pPr lvl="1"/>
            <a:r>
              <a:rPr lang="en-CA" b="1" dirty="0"/>
              <a:t>Methodology:</a:t>
            </a:r>
          </a:p>
          <a:p>
            <a:pPr lvl="2"/>
            <a:r>
              <a:rPr lang="en-CA" b="1" dirty="0"/>
              <a:t>Preprocessing</a:t>
            </a:r>
            <a:r>
              <a:rPr lang="en-CA" dirty="0"/>
              <a:t>: Convert to grayscale for consistent edge detection.</a:t>
            </a:r>
          </a:p>
          <a:p>
            <a:pPr lvl="2"/>
            <a:r>
              <a:rPr lang="en-CA" b="1" dirty="0"/>
              <a:t>Edge Detection</a:t>
            </a:r>
            <a:r>
              <a:rPr lang="en-CA" dirty="0"/>
              <a:t>: Use </a:t>
            </a:r>
            <a:r>
              <a:rPr lang="en-CA" b="1" dirty="0"/>
              <a:t>Sobel operator</a:t>
            </a:r>
            <a:r>
              <a:rPr lang="en-CA" dirty="0"/>
              <a:t> to find intensity changes.</a:t>
            </a:r>
          </a:p>
          <a:p>
            <a:pPr lvl="2"/>
            <a:r>
              <a:rPr lang="en-CA" b="1" dirty="0"/>
              <a:t>Morphological Dilation</a:t>
            </a:r>
            <a:r>
              <a:rPr lang="en-CA" dirty="0"/>
              <a:t>: Expand edges with a disk-shaped structuring element.</a:t>
            </a:r>
          </a:p>
          <a:p>
            <a:pPr lvl="2"/>
            <a:r>
              <a:rPr lang="en-CA" b="1" dirty="0"/>
              <a:t>Mask Creation</a:t>
            </a:r>
            <a:r>
              <a:rPr lang="en-CA" dirty="0"/>
              <a:t>: Generate a binary mask for inpainting regions.</a:t>
            </a:r>
          </a:p>
          <a:p>
            <a:pPr lvl="2"/>
            <a:r>
              <a:rPr lang="en-CA" b="1" dirty="0"/>
              <a:t>Visualization</a:t>
            </a:r>
            <a:r>
              <a:rPr lang="en-CA" dirty="0"/>
              <a:t>: Save and visualize the mask.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black and white image of a black background&#10;&#10;Description automatically generated">
            <a:extLst>
              <a:ext uri="{FF2B5EF4-FFF2-40B4-BE49-F238E27FC236}">
                <a16:creationId xmlns:a16="http://schemas.microsoft.com/office/drawing/2014/main" id="{D94B482E-02B8-6CE5-E67A-8A366CBA8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337" y="4129873"/>
            <a:ext cx="1422636" cy="1422636"/>
          </a:xfrm>
          <a:prstGeom prst="rect">
            <a:avLst/>
          </a:prstGeom>
        </p:spPr>
      </p:pic>
      <p:pic>
        <p:nvPicPr>
          <p:cNvPr id="9" name="Picture 8" descr="A close-up of a pile of peppers&#10;&#10;Description automatically generated">
            <a:extLst>
              <a:ext uri="{FF2B5EF4-FFF2-40B4-BE49-F238E27FC236}">
                <a16:creationId xmlns:a16="http://schemas.microsoft.com/office/drawing/2014/main" id="{009094B4-5BBC-A0E5-7CDB-B8233A6FF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856" y="4129873"/>
            <a:ext cx="1422636" cy="1422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E7864A-47FE-6B03-BF65-F6D491A5D19E}"/>
              </a:ext>
            </a:extLst>
          </p:cNvPr>
          <p:cNvSpPr txBox="1"/>
          <p:nvPr/>
        </p:nvSpPr>
        <p:spPr>
          <a:xfrm>
            <a:off x="1848896" y="5707416"/>
            <a:ext cx="4270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         Degraded Image                                 Generated Mask</a:t>
            </a:r>
          </a:p>
        </p:txBody>
      </p:sp>
    </p:spTree>
    <p:extLst>
      <p:ext uri="{BB962C8B-B14F-4D97-AF65-F5344CB8AC3E}">
        <p14:creationId xmlns:p14="http://schemas.microsoft.com/office/powerpoint/2010/main" val="26263759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3F60B-3027-4629-6373-FBDBD7D6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B790-45A1-2962-2578-E7444227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3D675-5100-5310-608C-3F0B5C915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CA" dirty="0"/>
              <a:t>Reproduced and extended the fractional-order nonlinear diffusion-based inpainting model.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CA" b="1" dirty="0"/>
              <a:t>Key Contributions:</a:t>
            </a:r>
            <a:endParaRPr lang="en-CA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CA" dirty="0"/>
              <a:t>Extended model to handle RGB images using channel separation and 3D signal processing.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CA" dirty="0"/>
              <a:t>Developed edge-driven mask generation for automatic identification of degraded regions.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CA" b="1" dirty="0"/>
              <a:t>Performance Highlights:</a:t>
            </a:r>
            <a:endParaRPr lang="en-CA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CA" dirty="0"/>
              <a:t>Achieved superior PSNR, MSSIM, and </a:t>
            </a:r>
            <a:r>
              <a:rPr lang="en-CA" dirty="0" err="1"/>
              <a:t>FoM</a:t>
            </a:r>
            <a:r>
              <a:rPr lang="en-CA" dirty="0"/>
              <a:t> compared to traditional methods (TV model, Bilateral </a:t>
            </a:r>
            <a:r>
              <a:rPr lang="en-CA" dirty="0" err="1"/>
              <a:t>Telea</a:t>
            </a:r>
            <a:r>
              <a:rPr lang="en-CA" dirty="0"/>
              <a:t>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CA" dirty="0"/>
              <a:t>Demonstrated robust handling of noisy and degraded images with structural and color coherence.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CA" b="1" dirty="0"/>
              <a:t>Future Directions:</a:t>
            </a:r>
            <a:endParaRPr lang="en-CA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CA" dirty="0"/>
              <a:t>Optimize computational efficiency and explore adaptive parameter tuning.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CA" dirty="0"/>
              <a:t>Extend applications to hyperspectral/satellite images and integrate machine learning for enhanced adaptability.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715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Custom 12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E33DA"/>
      </a:accent1>
      <a:accent2>
        <a:srgbClr val="0C0C0C"/>
      </a:accent2>
      <a:accent3>
        <a:srgbClr val="8100B3"/>
      </a:accent3>
      <a:accent4>
        <a:srgbClr val="D0B3E7"/>
      </a:accent4>
      <a:accent5>
        <a:srgbClr val="57058A"/>
      </a:accent5>
      <a:accent6>
        <a:srgbClr val="F1F1F1"/>
      </a:accent6>
      <a:hlink>
        <a:srgbClr val="57058A"/>
      </a:hlink>
      <a:folHlink>
        <a:srgbClr val="595959"/>
      </a:folHlink>
    </a:clrScheme>
    <a:fontScheme name="Custom 10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4-3" id="{DCB38C27-05E2-2B43-BE3B-4F83117550B2}" vid="{24EF13B0-E5F9-6A44-9ED7-1B41812CE2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F50DC185-29EA-42CB-9C85-A789775991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F29A2CF-0A39-49A9-A435-3335ACADB4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967D45-7F67-4B79-927B-DE3B0459D77F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679</TotalTime>
  <Words>1024</Words>
  <Application>Microsoft Macintosh PowerPoint</Application>
  <PresentationFormat>On-screen Show (4:3)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Barlow Condensed</vt:lpstr>
      <vt:lpstr>Calibri</vt:lpstr>
      <vt:lpstr>Cambria Math</vt:lpstr>
      <vt:lpstr>Georgia</vt:lpstr>
      <vt:lpstr>Verdana</vt:lpstr>
      <vt:lpstr>Wingdings</vt:lpstr>
      <vt:lpstr>UofWaterloo_WhiteBkgrd</vt:lpstr>
      <vt:lpstr>Reproduction of Image-Inpainting model based on fractional-order non-linear diffusion</vt:lpstr>
      <vt:lpstr>Introduction</vt:lpstr>
      <vt:lpstr>Why Fractional-Order Nonlinear Diffusion?</vt:lpstr>
      <vt:lpstr>Original Paper: Proposed Methodology</vt:lpstr>
      <vt:lpstr>Original Paper: Proposed Methodology</vt:lpstr>
      <vt:lpstr>Algorithm WorkFlow:</vt:lpstr>
      <vt:lpstr>Results</vt:lpstr>
      <vt:lpstr>Challenges</vt:lpstr>
      <vt:lpstr>Extension Work</vt:lpstr>
      <vt:lpstr>Extension Work</vt:lpstr>
      <vt:lpstr>Extension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 Nidumolu</dc:creator>
  <cp:lastModifiedBy>Jay Nidumolu</cp:lastModifiedBy>
  <cp:revision>10</cp:revision>
  <dcterms:created xsi:type="dcterms:W3CDTF">2024-12-22T15:48:06Z</dcterms:created>
  <dcterms:modified xsi:type="dcterms:W3CDTF">2026-06-11T18:14:59Z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